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Arimo" panose="020B0604020202020204" charset="0"/>
      <p:regular r:id="rId20"/>
    </p:embeddedFont>
    <p:embeddedFont>
      <p:font typeface="Arimo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92A11E-FBF7-3002-641A-C886DBC1828F}" v="20" dt="2024-12-09T01:21:43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7122802"/>
            <a:ext cx="2475130" cy="2135498"/>
          </a:xfrm>
          <a:custGeom>
            <a:avLst/>
            <a:gdLst/>
            <a:ahLst/>
            <a:cxnLst/>
            <a:rect l="l" t="t" r="r" b="b"/>
            <a:pathLst>
              <a:path w="2475130" h="2135498">
                <a:moveTo>
                  <a:pt x="0" y="0"/>
                </a:moveTo>
                <a:lnTo>
                  <a:pt x="2475130" y="0"/>
                </a:lnTo>
                <a:lnTo>
                  <a:pt x="2475130" y="2135498"/>
                </a:lnTo>
                <a:lnTo>
                  <a:pt x="0" y="2135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12988885" y="0"/>
            <a:ext cx="0" cy="1056226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2371110"/>
            <a:ext cx="5931001" cy="11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Projeto 2º Eixo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967070"/>
            <a:ext cx="7140226" cy="2001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11"/>
              </a:lnSpc>
            </a:pPr>
            <a:r>
              <a:rPr lang="en-US" sz="1143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smartfleet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51506" y="7818006"/>
            <a:ext cx="809435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Pontifícia Universidade Católica de Minas Gerais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51506" y="8166221"/>
            <a:ext cx="809435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Departamento de Eng. de Software e Sistemas de Informação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62484" y="6649514"/>
            <a:ext cx="3308697" cy="211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Ana Clara Rodrigues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Cássio Viller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João Farchi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Leandra Gomes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Lucas Filipe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Lucas Gentil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362484" y="6100000"/>
            <a:ext cx="357456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Apresentado por: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798882" y="2002765"/>
            <a:ext cx="3177009" cy="1041490"/>
            <a:chOff x="0" y="0"/>
            <a:chExt cx="4236012" cy="1388654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236012" cy="1388654"/>
              <a:chOff x="0" y="0"/>
              <a:chExt cx="1017483" cy="33355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17483" cy="333552"/>
              </a:xfrm>
              <a:custGeom>
                <a:avLst/>
                <a:gdLst/>
                <a:ahLst/>
                <a:cxnLst/>
                <a:rect l="l" t="t" r="r" b="b"/>
                <a:pathLst>
                  <a:path w="1017483" h="333552">
                    <a:moveTo>
                      <a:pt x="128255" y="0"/>
                    </a:moveTo>
                    <a:lnTo>
                      <a:pt x="889228" y="0"/>
                    </a:lnTo>
                    <a:cubicBezTo>
                      <a:pt x="960062" y="0"/>
                      <a:pt x="1017483" y="57422"/>
                      <a:pt x="1017483" y="128255"/>
                    </a:cubicBezTo>
                    <a:lnTo>
                      <a:pt x="1017483" y="205297"/>
                    </a:lnTo>
                    <a:cubicBezTo>
                      <a:pt x="1017483" y="276131"/>
                      <a:pt x="960062" y="333552"/>
                      <a:pt x="889228" y="333552"/>
                    </a:cubicBezTo>
                    <a:lnTo>
                      <a:pt x="128255" y="333552"/>
                    </a:lnTo>
                    <a:cubicBezTo>
                      <a:pt x="57422" y="333552"/>
                      <a:pt x="0" y="276131"/>
                      <a:pt x="0" y="205297"/>
                    </a:cubicBezTo>
                    <a:lnTo>
                      <a:pt x="0" y="128255"/>
                    </a:lnTo>
                    <a:cubicBezTo>
                      <a:pt x="0" y="57422"/>
                      <a:pt x="57422" y="0"/>
                      <a:pt x="128255" y="0"/>
                    </a:cubicBezTo>
                    <a:close/>
                  </a:path>
                </a:pathLst>
              </a:custGeom>
              <a:solidFill>
                <a:srgbClr val="B4D4F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017483" cy="3811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539767" y="215733"/>
              <a:ext cx="3156479" cy="8256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08"/>
                </a:lnSpc>
              </a:pPr>
              <a:r>
                <a:rPr lang="en-US" sz="3750" b="1">
                  <a:solidFill>
                    <a:srgbClr val="004AA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Smartfleet</a:t>
              </a:r>
              <a:endParaRPr lang="en-US" sz="3750" b="1">
                <a:solidFill>
                  <a:srgbClr val="004AAD"/>
                </a:solidFill>
                <a:latin typeface="Arimo Bold"/>
                <a:ea typeface="Arimo Bold"/>
                <a:cs typeface="Arimo 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538157" cy="10510000"/>
            <a:chOff x="0" y="0"/>
            <a:chExt cx="1195235" cy="27680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5235" cy="2768066"/>
            </a:xfrm>
            <a:custGeom>
              <a:avLst/>
              <a:gdLst/>
              <a:ahLst/>
              <a:cxnLst/>
              <a:rect l="l" t="t" r="r" b="b"/>
              <a:pathLst>
                <a:path w="1195235" h="2768066">
                  <a:moveTo>
                    <a:pt x="0" y="0"/>
                  </a:moveTo>
                  <a:lnTo>
                    <a:pt x="1195235" y="0"/>
                  </a:lnTo>
                  <a:lnTo>
                    <a:pt x="1195235" y="2768066"/>
                  </a:lnTo>
                  <a:lnTo>
                    <a:pt x="0" y="276806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95235" cy="2815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108997"/>
            <a:ext cx="2722740" cy="512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18"/>
              </a:lnSpc>
              <a:spcBef>
                <a:spcPct val="0"/>
              </a:spcBef>
            </a:pPr>
            <a:r>
              <a:rPr lang="en-US" sz="965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SUMÁRIO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19003" y="1649538"/>
            <a:ext cx="4493603" cy="96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7"/>
              </a:lnSpc>
            </a:pPr>
            <a:r>
              <a:rPr lang="en-US" sz="5476" b="1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1- Introdução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19003" y="2692851"/>
            <a:ext cx="5249367" cy="1503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336" lvl="1" indent="-229168" algn="l">
              <a:lnSpc>
                <a:spcPts val="2972"/>
              </a:lnSpc>
              <a:buFont typeface="Arial"/>
              <a:buChar char="•"/>
            </a:pPr>
            <a:r>
              <a:rPr lang="en-US" sz="2122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Contextualização do mercado;</a:t>
            </a:r>
          </a:p>
          <a:p>
            <a:pPr marL="458336" lvl="1" indent="-229168" algn="l">
              <a:lnSpc>
                <a:spcPts val="2972"/>
              </a:lnSpc>
              <a:buFont typeface="Arial"/>
              <a:buChar char="•"/>
            </a:pPr>
            <a:r>
              <a:rPr lang="en-US" sz="2122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Como é o processo de locação atual;</a:t>
            </a:r>
          </a:p>
          <a:p>
            <a:pPr marL="458336" lvl="1" indent="-229168" algn="l">
              <a:lnSpc>
                <a:spcPts val="2972"/>
              </a:lnSpc>
              <a:buFont typeface="Arial"/>
              <a:buChar char="•"/>
            </a:pPr>
            <a:r>
              <a:rPr lang="en-US" sz="2122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Problemas;</a:t>
            </a:r>
          </a:p>
          <a:p>
            <a:pPr algn="l">
              <a:lnSpc>
                <a:spcPts val="2972"/>
              </a:lnSpc>
            </a:pPr>
            <a:endParaRPr lang="en-US" sz="2122" b="1">
              <a:solidFill>
                <a:srgbClr val="002555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119003" y="4557599"/>
            <a:ext cx="3634640" cy="96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7"/>
              </a:lnSpc>
            </a:pPr>
            <a:r>
              <a:rPr lang="en-US" sz="5476" b="1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2- Solução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19003" y="5600911"/>
            <a:ext cx="5249367" cy="74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336" lvl="1" indent="-229168" algn="l">
              <a:lnSpc>
                <a:spcPts val="2972"/>
              </a:lnSpc>
              <a:buFont typeface="Arial"/>
              <a:buChar char="•"/>
            </a:pPr>
            <a:r>
              <a:rPr lang="en-US" sz="2122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Solução SmartFleet</a:t>
            </a:r>
          </a:p>
          <a:p>
            <a:pPr marL="458336" lvl="1" indent="-229168" algn="l">
              <a:lnSpc>
                <a:spcPts val="2972"/>
              </a:lnSpc>
              <a:buFont typeface="Arial"/>
              <a:buChar char="•"/>
            </a:pPr>
            <a:r>
              <a:rPr lang="en-US" sz="2122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Modelo To Be;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3227" y="1649538"/>
            <a:ext cx="6006073" cy="96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7"/>
              </a:lnSpc>
            </a:pPr>
            <a:r>
              <a:rPr lang="en-US" sz="5476" b="1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3- Implementação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53227" y="2692851"/>
            <a:ext cx="5249367" cy="112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336" lvl="1" indent="-229168" algn="l">
              <a:lnSpc>
                <a:spcPts val="2972"/>
              </a:lnSpc>
              <a:buFont typeface="Arial"/>
              <a:buChar char="•"/>
            </a:pPr>
            <a:r>
              <a:rPr lang="en-US" sz="2122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Modelagem dos dados;</a:t>
            </a:r>
          </a:p>
          <a:p>
            <a:pPr marL="458336" lvl="1" indent="-229168" algn="l">
              <a:lnSpc>
                <a:spcPts val="2972"/>
              </a:lnSpc>
              <a:buFont typeface="Arial"/>
              <a:buChar char="•"/>
            </a:pPr>
            <a:r>
              <a:rPr lang="en-US" sz="2122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Automatização do processo;</a:t>
            </a:r>
          </a:p>
          <a:p>
            <a:pPr marL="458336" lvl="1" indent="-229168" algn="l">
              <a:lnSpc>
                <a:spcPts val="2972"/>
              </a:lnSpc>
              <a:buFont typeface="Arial"/>
              <a:buChar char="•"/>
            </a:pPr>
            <a:r>
              <a:rPr lang="en-US" sz="2122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Indicadores de desempenho.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10647186" y="1444829"/>
            <a:ext cx="0" cy="6492240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1247261" y="4557599"/>
            <a:ext cx="6006073" cy="96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7"/>
              </a:lnSpc>
            </a:pPr>
            <a:r>
              <a:rPr lang="en-US" sz="5476" b="1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4- Finalização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47261" y="5600911"/>
            <a:ext cx="5249367" cy="74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336" lvl="1" indent="-229168" algn="l">
              <a:lnSpc>
                <a:spcPts val="2972"/>
              </a:lnSpc>
              <a:buFont typeface="Arial"/>
              <a:buChar char="•"/>
            </a:pPr>
            <a:r>
              <a:rPr lang="en-US" sz="2122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Demonstração;</a:t>
            </a:r>
          </a:p>
          <a:p>
            <a:pPr marL="458336" lvl="1" indent="-229168" algn="l">
              <a:lnSpc>
                <a:spcPts val="2972"/>
              </a:lnSpc>
              <a:buFont typeface="Arial"/>
              <a:buChar char="•"/>
            </a:pPr>
            <a:r>
              <a:rPr lang="en-US" sz="2122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Conclusão.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56328" y="3916603"/>
            <a:ext cx="10775344" cy="217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4"/>
              </a:lnSpc>
              <a:spcBef>
                <a:spcPct val="0"/>
              </a:spcBef>
            </a:pPr>
            <a:r>
              <a:rPr lang="en-US" sz="1249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672423"/>
            <a:ext cx="17773650" cy="1543050"/>
            <a:chOff x="0" y="0"/>
            <a:chExt cx="4681126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1126" cy="406400"/>
            </a:xfrm>
            <a:custGeom>
              <a:avLst/>
              <a:gdLst/>
              <a:ahLst/>
              <a:cxnLst/>
              <a:rect l="l" t="t" r="r" b="b"/>
              <a:pathLst>
                <a:path w="4681126" h="406400">
                  <a:moveTo>
                    <a:pt x="0" y="0"/>
                  </a:moveTo>
                  <a:lnTo>
                    <a:pt x="4681126" y="0"/>
                  </a:lnTo>
                  <a:lnTo>
                    <a:pt x="468112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68112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72"/>
                </a:lnSpc>
              </a:pPr>
              <a:r>
                <a:rPr lang="en-US" sz="2122" b="1">
                  <a:solidFill>
                    <a:srgbClr val="004AA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895350"/>
            <a:ext cx="9933706" cy="96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7"/>
              </a:lnSpc>
            </a:pPr>
            <a:r>
              <a:rPr lang="en-US" sz="547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Contextualização do mercado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095489"/>
            <a:ext cx="7299413" cy="1479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2"/>
              </a:lnSpc>
              <a:spcBef>
                <a:spcPct val="0"/>
              </a:spcBef>
            </a:pPr>
            <a:r>
              <a:rPr lang="en-US" sz="2122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De acordo com a Associação Brasileira das Locadoras , o serviço de locação de veículos tem ganhado grande importância nos últimos anos, especialmente em áreas urbanas e turísticas.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74297" y="8557379"/>
            <a:ext cx="5680487" cy="700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0"/>
              </a:lnSpc>
              <a:spcBef>
                <a:spcPct val="0"/>
              </a:spcBef>
            </a:pPr>
            <a:r>
              <a:rPr lang="en-US" sz="1307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No início do segundo semestre de 2024, o número de veículos locados pelas locadoras no Brasil era de mais de 300 mil, um aumento em relação aos 170 mil veículos locados em meados de 2021.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3062" y="6198833"/>
            <a:ext cx="7299413" cy="1479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2"/>
              </a:lnSpc>
              <a:spcBef>
                <a:spcPct val="0"/>
              </a:spcBef>
            </a:pPr>
            <a:r>
              <a:rPr lang="en-US" sz="2122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E este crescimento demanda inovação e eficiência nos processos, especialmente para pequenas e médias empresas que buscam se manter competitivas em um mercado dinâmico.  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4490" y="2619247"/>
            <a:ext cx="6160100" cy="60104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672423"/>
            <a:ext cx="17773650" cy="1543050"/>
            <a:chOff x="0" y="0"/>
            <a:chExt cx="4681126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1126" cy="406400"/>
            </a:xfrm>
            <a:custGeom>
              <a:avLst/>
              <a:gdLst/>
              <a:ahLst/>
              <a:cxnLst/>
              <a:rect l="l" t="t" r="r" b="b"/>
              <a:pathLst>
                <a:path w="4681126" h="406400">
                  <a:moveTo>
                    <a:pt x="0" y="0"/>
                  </a:moveTo>
                  <a:lnTo>
                    <a:pt x="4681126" y="0"/>
                  </a:lnTo>
                  <a:lnTo>
                    <a:pt x="468112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68112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7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83054" y="3779948"/>
            <a:ext cx="16476246" cy="5478352"/>
          </a:xfrm>
          <a:custGeom>
            <a:avLst/>
            <a:gdLst/>
            <a:ahLst/>
            <a:cxnLst/>
            <a:rect l="l" t="t" r="r" b="b"/>
            <a:pathLst>
              <a:path w="16476246" h="5478352">
                <a:moveTo>
                  <a:pt x="0" y="0"/>
                </a:moveTo>
                <a:lnTo>
                  <a:pt x="16476246" y="0"/>
                </a:lnTo>
                <a:lnTo>
                  <a:pt x="16476246" y="5478352"/>
                </a:lnTo>
                <a:lnTo>
                  <a:pt x="0" y="54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895350"/>
            <a:ext cx="9933706" cy="96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7"/>
              </a:lnSpc>
            </a:pPr>
            <a:r>
              <a:rPr lang="en-US" sz="547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Processo atual (AS - IS)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3062" y="3210255"/>
            <a:ext cx="11300498" cy="365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2"/>
              </a:lnSpc>
              <a:spcBef>
                <a:spcPct val="0"/>
              </a:spcBef>
            </a:pPr>
            <a:r>
              <a:rPr lang="en-US" sz="2122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Conheça o processo atual de uma locadora que utiliza métodos tradicionais e manuais: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672423"/>
            <a:ext cx="17773650" cy="1543050"/>
            <a:chOff x="0" y="0"/>
            <a:chExt cx="4681126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1126" cy="406400"/>
            </a:xfrm>
            <a:custGeom>
              <a:avLst/>
              <a:gdLst/>
              <a:ahLst/>
              <a:cxnLst/>
              <a:rect l="l" t="t" r="r" b="b"/>
              <a:pathLst>
                <a:path w="4681126" h="406400">
                  <a:moveTo>
                    <a:pt x="0" y="0"/>
                  </a:moveTo>
                  <a:lnTo>
                    <a:pt x="4681126" y="0"/>
                  </a:lnTo>
                  <a:lnTo>
                    <a:pt x="468112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68112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72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895350"/>
            <a:ext cx="9933706" cy="96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7"/>
              </a:lnSpc>
            </a:pPr>
            <a:r>
              <a:rPr lang="en-US" sz="547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Problemas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410341"/>
            <a:ext cx="10378728" cy="119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Principais problemas ao utilizar processos não automatizados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076825"/>
            <a:ext cx="7171506" cy="2571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63" lvl="1" indent="-313082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Dificuldades operacionais;</a:t>
            </a:r>
          </a:p>
          <a:p>
            <a:pPr marL="626163" lvl="1" indent="-313082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Risco de perda de informações;</a:t>
            </a:r>
          </a:p>
          <a:p>
            <a:pPr marL="626163" lvl="1" indent="-313082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Falta de agilidade;</a:t>
            </a:r>
          </a:p>
          <a:p>
            <a:pPr marL="626163" lvl="1" indent="-313082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Maior possibilidade de erros.</a:t>
            </a:r>
          </a:p>
          <a:p>
            <a:pPr algn="l">
              <a:lnSpc>
                <a:spcPts val="4060"/>
              </a:lnSpc>
            </a:pPr>
            <a:endParaRPr lang="en-US" sz="2900" b="1">
              <a:solidFill>
                <a:srgbClr val="002555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56328" y="3916603"/>
            <a:ext cx="10775344" cy="2178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4"/>
              </a:lnSpc>
              <a:spcBef>
                <a:spcPct val="0"/>
              </a:spcBef>
            </a:pPr>
            <a:r>
              <a:rPr lang="en-US" sz="1249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SOLUÇÃO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672423"/>
            <a:ext cx="17773650" cy="1543050"/>
            <a:chOff x="0" y="0"/>
            <a:chExt cx="4681126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1126" cy="406400"/>
            </a:xfrm>
            <a:custGeom>
              <a:avLst/>
              <a:gdLst/>
              <a:ahLst/>
              <a:cxnLst/>
              <a:rect l="l" t="t" r="r" b="b"/>
              <a:pathLst>
                <a:path w="4681126" h="406400">
                  <a:moveTo>
                    <a:pt x="0" y="0"/>
                  </a:moveTo>
                  <a:lnTo>
                    <a:pt x="4681126" y="0"/>
                  </a:lnTo>
                  <a:lnTo>
                    <a:pt x="468112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68112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7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831351" y="338640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895350"/>
            <a:ext cx="9933706" cy="96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7"/>
              </a:lnSpc>
            </a:pPr>
            <a:r>
              <a:rPr lang="en-US" sz="547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Smart Fleet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3062" y="3310208"/>
            <a:ext cx="9058813" cy="1454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  <a:spcBef>
                <a:spcPct val="0"/>
              </a:spcBef>
            </a:pPr>
            <a:r>
              <a:rPr lang="en-US" sz="2758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Um sistema desenvolvido para ajudar médias e pequenas locadoras a realizarem os seus processos de forma eficiente, ágil e segura.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3062" y="5251414"/>
            <a:ext cx="8872589" cy="283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3265" lvl="1" indent="-291633" algn="l">
              <a:lnSpc>
                <a:spcPts val="3782"/>
              </a:lnSpc>
              <a:buFont typeface="Arial"/>
              <a:buChar char="•"/>
            </a:pPr>
            <a:r>
              <a:rPr lang="en-US" sz="2701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Cadastros mais rápidos;</a:t>
            </a:r>
          </a:p>
          <a:p>
            <a:pPr marL="583265" lvl="1" indent="-291633" algn="l">
              <a:lnSpc>
                <a:spcPts val="3782"/>
              </a:lnSpc>
              <a:buFont typeface="Arial"/>
              <a:buChar char="•"/>
            </a:pPr>
            <a:r>
              <a:rPr lang="en-US" sz="2701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Locação segura e ágil para o cliente;</a:t>
            </a:r>
          </a:p>
          <a:p>
            <a:pPr marL="583265" lvl="1" indent="-291633" algn="l">
              <a:lnSpc>
                <a:spcPts val="3782"/>
              </a:lnSpc>
              <a:buFont typeface="Arial"/>
              <a:buChar char="•"/>
            </a:pPr>
            <a:r>
              <a:rPr lang="en-US" sz="2701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Informações armazenadas em um banco de dados para não correr o risco de perder nenhum dado;</a:t>
            </a:r>
          </a:p>
          <a:p>
            <a:pPr marL="583265" lvl="1" indent="-291633" algn="l">
              <a:lnSpc>
                <a:spcPts val="3782"/>
              </a:lnSpc>
              <a:buFont typeface="Arial"/>
              <a:buChar char="•"/>
            </a:pPr>
            <a:r>
              <a:rPr lang="en-US" sz="2701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Indicadores de desempenho para melhoria continua.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672423"/>
            <a:ext cx="17773650" cy="1543050"/>
            <a:chOff x="0" y="0"/>
            <a:chExt cx="4681126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1126" cy="406400"/>
            </a:xfrm>
            <a:custGeom>
              <a:avLst/>
              <a:gdLst/>
              <a:ahLst/>
              <a:cxnLst/>
              <a:rect l="l" t="t" r="r" b="b"/>
              <a:pathLst>
                <a:path w="4681126" h="406400">
                  <a:moveTo>
                    <a:pt x="0" y="0"/>
                  </a:moveTo>
                  <a:lnTo>
                    <a:pt x="4681126" y="0"/>
                  </a:lnTo>
                  <a:lnTo>
                    <a:pt x="468112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68112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7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166146" y="3607671"/>
            <a:ext cx="11301259" cy="5650629"/>
          </a:xfrm>
          <a:custGeom>
            <a:avLst/>
            <a:gdLst/>
            <a:ahLst/>
            <a:cxnLst/>
            <a:rect l="l" t="t" r="r" b="b"/>
            <a:pathLst>
              <a:path w="11301259" h="5650629">
                <a:moveTo>
                  <a:pt x="0" y="0"/>
                </a:moveTo>
                <a:lnTo>
                  <a:pt x="11301259" y="0"/>
                </a:lnTo>
                <a:lnTo>
                  <a:pt x="11301259" y="5650629"/>
                </a:lnTo>
                <a:lnTo>
                  <a:pt x="0" y="5650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895350"/>
            <a:ext cx="9933706" cy="96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7"/>
              </a:lnSpc>
            </a:pPr>
            <a:r>
              <a:rPr lang="en-US" sz="547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Modelo TO-BE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844618"/>
            <a:ext cx="10378728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Cadastro de veículos: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672423"/>
            <a:ext cx="17773650" cy="1543050"/>
            <a:chOff x="0" y="0"/>
            <a:chExt cx="4681126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1126" cy="406400"/>
            </a:xfrm>
            <a:custGeom>
              <a:avLst/>
              <a:gdLst/>
              <a:ahLst/>
              <a:cxnLst/>
              <a:rect l="l" t="t" r="r" b="b"/>
              <a:pathLst>
                <a:path w="4681126" h="406400">
                  <a:moveTo>
                    <a:pt x="0" y="0"/>
                  </a:moveTo>
                  <a:lnTo>
                    <a:pt x="4681126" y="0"/>
                  </a:lnTo>
                  <a:lnTo>
                    <a:pt x="468112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68112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7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721846" y="4059721"/>
            <a:ext cx="11301259" cy="5198579"/>
          </a:xfrm>
          <a:custGeom>
            <a:avLst/>
            <a:gdLst/>
            <a:ahLst/>
            <a:cxnLst/>
            <a:rect l="l" t="t" r="r" b="b"/>
            <a:pathLst>
              <a:path w="11301259" h="5198579">
                <a:moveTo>
                  <a:pt x="0" y="0"/>
                </a:moveTo>
                <a:lnTo>
                  <a:pt x="11301258" y="0"/>
                </a:lnTo>
                <a:lnTo>
                  <a:pt x="11301258" y="5198579"/>
                </a:lnTo>
                <a:lnTo>
                  <a:pt x="0" y="5198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895350"/>
            <a:ext cx="9933706" cy="96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7"/>
              </a:lnSpc>
            </a:pPr>
            <a:r>
              <a:rPr lang="en-US" sz="547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Modelo TO-BE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844618"/>
            <a:ext cx="10378728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Cadastro de clientes: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672423"/>
            <a:ext cx="17773650" cy="1543050"/>
            <a:chOff x="0" y="0"/>
            <a:chExt cx="4681126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1126" cy="406400"/>
            </a:xfrm>
            <a:custGeom>
              <a:avLst/>
              <a:gdLst/>
              <a:ahLst/>
              <a:cxnLst/>
              <a:rect l="l" t="t" r="r" b="b"/>
              <a:pathLst>
                <a:path w="4681126" h="406400">
                  <a:moveTo>
                    <a:pt x="0" y="0"/>
                  </a:moveTo>
                  <a:lnTo>
                    <a:pt x="4681126" y="0"/>
                  </a:lnTo>
                  <a:lnTo>
                    <a:pt x="468112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68112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7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818143" y="3801753"/>
            <a:ext cx="13472956" cy="5456547"/>
          </a:xfrm>
          <a:custGeom>
            <a:avLst/>
            <a:gdLst/>
            <a:ahLst/>
            <a:cxnLst/>
            <a:rect l="l" t="t" r="r" b="b"/>
            <a:pathLst>
              <a:path w="13472956" h="5456547">
                <a:moveTo>
                  <a:pt x="0" y="0"/>
                </a:moveTo>
                <a:lnTo>
                  <a:pt x="13472955" y="0"/>
                </a:lnTo>
                <a:lnTo>
                  <a:pt x="13472955" y="5456547"/>
                </a:lnTo>
                <a:lnTo>
                  <a:pt x="0" y="5456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895350"/>
            <a:ext cx="9933706" cy="96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7"/>
              </a:lnSpc>
            </a:pPr>
            <a:r>
              <a:rPr lang="en-US" sz="547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Modelo TO-BE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844618"/>
            <a:ext cx="10378728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 dirty="0" err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Realizar</a:t>
            </a:r>
            <a:r>
              <a:rPr lang="en-US" sz="3399" b="1" dirty="0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 a </a:t>
            </a:r>
            <a:r>
              <a:rPr lang="en-US" sz="3399" b="1" dirty="0" err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locação</a:t>
            </a:r>
            <a:r>
              <a:rPr lang="en-US" sz="3399" b="1" dirty="0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7949" y="3916316"/>
            <a:ext cx="14252101" cy="2178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4"/>
              </a:lnSpc>
              <a:spcBef>
                <a:spcPct val="0"/>
              </a:spcBef>
            </a:pPr>
            <a:r>
              <a:rPr lang="en-US" sz="1249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IMPLEMENTAÇÃO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672423"/>
            <a:ext cx="17773650" cy="1543050"/>
            <a:chOff x="0" y="0"/>
            <a:chExt cx="4681126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1126" cy="406400"/>
            </a:xfrm>
            <a:custGeom>
              <a:avLst/>
              <a:gdLst/>
              <a:ahLst/>
              <a:cxnLst/>
              <a:rect l="l" t="t" r="r" b="b"/>
              <a:pathLst>
                <a:path w="4681126" h="406400">
                  <a:moveTo>
                    <a:pt x="0" y="0"/>
                  </a:moveTo>
                  <a:lnTo>
                    <a:pt x="4681126" y="0"/>
                  </a:lnTo>
                  <a:lnTo>
                    <a:pt x="468112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68112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7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141368" y="2571318"/>
            <a:ext cx="9117932" cy="6359757"/>
          </a:xfrm>
          <a:custGeom>
            <a:avLst/>
            <a:gdLst/>
            <a:ahLst/>
            <a:cxnLst/>
            <a:rect l="l" t="t" r="r" b="b"/>
            <a:pathLst>
              <a:path w="9117932" h="6359757">
                <a:moveTo>
                  <a:pt x="0" y="0"/>
                </a:moveTo>
                <a:lnTo>
                  <a:pt x="9117932" y="0"/>
                </a:lnTo>
                <a:lnTo>
                  <a:pt x="9117932" y="6359758"/>
                </a:lnTo>
                <a:lnTo>
                  <a:pt x="0" y="6359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895350"/>
            <a:ext cx="9933706" cy="96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7"/>
              </a:lnSpc>
            </a:pPr>
            <a:r>
              <a:rPr lang="en-US" sz="547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Modelagem dos dados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537013"/>
            <a:ext cx="6275247" cy="236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3265" lvl="1" indent="-291633" algn="l">
              <a:lnSpc>
                <a:spcPts val="3782"/>
              </a:lnSpc>
              <a:buFont typeface="Arial"/>
              <a:buChar char="•"/>
            </a:pPr>
            <a:r>
              <a:rPr lang="en-US" sz="2701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Funcionário cadastra veículo (1,N)</a:t>
            </a:r>
          </a:p>
          <a:p>
            <a:pPr marL="583265" lvl="1" indent="-291633" algn="l">
              <a:lnSpc>
                <a:spcPts val="3782"/>
              </a:lnSpc>
              <a:buFont typeface="Arial"/>
              <a:buChar char="•"/>
            </a:pPr>
            <a:r>
              <a:rPr lang="en-US" sz="2701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Funcionário cadastra cliente (1,N)</a:t>
            </a:r>
          </a:p>
          <a:p>
            <a:pPr marL="583265" lvl="1" indent="-291633" algn="l">
              <a:lnSpc>
                <a:spcPts val="3782"/>
              </a:lnSpc>
              <a:buFont typeface="Arial"/>
              <a:buChar char="•"/>
            </a:pPr>
            <a:r>
              <a:rPr lang="en-US" sz="2701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Funcionário realiza locação (1,N)</a:t>
            </a:r>
          </a:p>
          <a:p>
            <a:pPr marL="583265" lvl="1" indent="-291633" algn="l">
              <a:lnSpc>
                <a:spcPts val="3782"/>
              </a:lnSpc>
              <a:buFont typeface="Arial"/>
              <a:buChar char="•"/>
            </a:pPr>
            <a:r>
              <a:rPr lang="en-US" sz="2701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Cliente realiza locação (1,N)</a:t>
            </a:r>
          </a:p>
          <a:p>
            <a:pPr marL="583265" lvl="1" indent="-291633" algn="l">
              <a:lnSpc>
                <a:spcPts val="3782"/>
              </a:lnSpc>
              <a:buFont typeface="Arial"/>
              <a:buChar char="•"/>
            </a:pPr>
            <a:r>
              <a:rPr lang="en-US" sz="2701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Locação envolve veículo (1,1)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672423"/>
            <a:ext cx="17773650" cy="1543050"/>
            <a:chOff x="0" y="0"/>
            <a:chExt cx="4681126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1126" cy="406400"/>
            </a:xfrm>
            <a:custGeom>
              <a:avLst/>
              <a:gdLst/>
              <a:ahLst/>
              <a:cxnLst/>
              <a:rect l="l" t="t" r="r" b="b"/>
              <a:pathLst>
                <a:path w="4681126" h="406400">
                  <a:moveTo>
                    <a:pt x="0" y="0"/>
                  </a:moveTo>
                  <a:lnTo>
                    <a:pt x="4681126" y="0"/>
                  </a:lnTo>
                  <a:lnTo>
                    <a:pt x="468112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68112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7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91513" y="4080609"/>
            <a:ext cx="7955586" cy="3627566"/>
          </a:xfrm>
          <a:custGeom>
            <a:avLst/>
            <a:gdLst/>
            <a:ahLst/>
            <a:cxnLst/>
            <a:rect l="l" t="t" r="r" b="b"/>
            <a:pathLst>
              <a:path w="7955586" h="3627566">
                <a:moveTo>
                  <a:pt x="0" y="0"/>
                </a:moveTo>
                <a:lnTo>
                  <a:pt x="7955586" y="0"/>
                </a:lnTo>
                <a:lnTo>
                  <a:pt x="7955586" y="3627566"/>
                </a:lnTo>
                <a:lnTo>
                  <a:pt x="0" y="362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539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338892" y="2826768"/>
            <a:ext cx="5549652" cy="6135249"/>
          </a:xfrm>
          <a:custGeom>
            <a:avLst/>
            <a:gdLst/>
            <a:ahLst/>
            <a:cxnLst/>
            <a:rect l="l" t="t" r="r" b="b"/>
            <a:pathLst>
              <a:path w="5549652" h="6135249">
                <a:moveTo>
                  <a:pt x="0" y="0"/>
                </a:moveTo>
                <a:lnTo>
                  <a:pt x="5549652" y="0"/>
                </a:lnTo>
                <a:lnTo>
                  <a:pt x="5549652" y="6135248"/>
                </a:lnTo>
                <a:lnTo>
                  <a:pt x="0" y="6135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419356" y="5378511"/>
            <a:ext cx="1543050" cy="1031762"/>
            <a:chOff x="0" y="0"/>
            <a:chExt cx="812800" cy="5434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543480"/>
            </a:xfrm>
            <a:custGeom>
              <a:avLst/>
              <a:gdLst/>
              <a:ahLst/>
              <a:cxnLst/>
              <a:rect l="l" t="t" r="r" b="b"/>
              <a:pathLst>
                <a:path w="812800" h="543480">
                  <a:moveTo>
                    <a:pt x="812800" y="27174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40280"/>
                  </a:lnTo>
                  <a:lnTo>
                    <a:pt x="406400" y="340280"/>
                  </a:lnTo>
                  <a:lnTo>
                    <a:pt x="406400" y="543480"/>
                  </a:lnTo>
                  <a:lnTo>
                    <a:pt x="812800" y="271740"/>
                  </a:lnTo>
                  <a:close/>
                </a:path>
              </a:pathLst>
            </a:custGeom>
            <a:solidFill>
              <a:srgbClr val="00255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155575"/>
              <a:ext cx="711200" cy="1847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72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895350"/>
            <a:ext cx="9933706" cy="96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7"/>
              </a:lnSpc>
            </a:pPr>
            <a:r>
              <a:rPr lang="en-US" sz="547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Automatização do processo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1513" y="2805458"/>
            <a:ext cx="10378728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Veículos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672423"/>
            <a:ext cx="17773650" cy="1543050"/>
            <a:chOff x="0" y="0"/>
            <a:chExt cx="4681126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1126" cy="406400"/>
            </a:xfrm>
            <a:custGeom>
              <a:avLst/>
              <a:gdLst/>
              <a:ahLst/>
              <a:cxnLst/>
              <a:rect l="l" t="t" r="r" b="b"/>
              <a:pathLst>
                <a:path w="4681126" h="406400">
                  <a:moveTo>
                    <a:pt x="0" y="0"/>
                  </a:moveTo>
                  <a:lnTo>
                    <a:pt x="4681126" y="0"/>
                  </a:lnTo>
                  <a:lnTo>
                    <a:pt x="468112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68112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7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66546" y="4046031"/>
            <a:ext cx="8554744" cy="3550219"/>
          </a:xfrm>
          <a:custGeom>
            <a:avLst/>
            <a:gdLst/>
            <a:ahLst/>
            <a:cxnLst/>
            <a:rect l="l" t="t" r="r" b="b"/>
            <a:pathLst>
              <a:path w="8554744" h="3550219">
                <a:moveTo>
                  <a:pt x="0" y="0"/>
                </a:moveTo>
                <a:lnTo>
                  <a:pt x="8554745" y="0"/>
                </a:lnTo>
                <a:lnTo>
                  <a:pt x="8554745" y="3550219"/>
                </a:lnTo>
                <a:lnTo>
                  <a:pt x="0" y="3550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419356" y="5378511"/>
            <a:ext cx="1543050" cy="1031762"/>
            <a:chOff x="0" y="0"/>
            <a:chExt cx="812800" cy="543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43480"/>
            </a:xfrm>
            <a:custGeom>
              <a:avLst/>
              <a:gdLst/>
              <a:ahLst/>
              <a:cxnLst/>
              <a:rect l="l" t="t" r="r" b="b"/>
              <a:pathLst>
                <a:path w="812800" h="543480">
                  <a:moveTo>
                    <a:pt x="812800" y="27174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40280"/>
                  </a:lnTo>
                  <a:lnTo>
                    <a:pt x="406400" y="340280"/>
                  </a:lnTo>
                  <a:lnTo>
                    <a:pt x="406400" y="543480"/>
                  </a:lnTo>
                  <a:lnTo>
                    <a:pt x="812800" y="271740"/>
                  </a:lnTo>
                  <a:close/>
                </a:path>
              </a:pathLst>
            </a:custGeom>
            <a:solidFill>
              <a:srgbClr val="00255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55575"/>
              <a:ext cx="711200" cy="1847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72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362456" y="2599842"/>
            <a:ext cx="5701502" cy="6139167"/>
          </a:xfrm>
          <a:custGeom>
            <a:avLst/>
            <a:gdLst/>
            <a:ahLst/>
            <a:cxnLst/>
            <a:rect l="l" t="t" r="r" b="b"/>
            <a:pathLst>
              <a:path w="5701502" h="6139167">
                <a:moveTo>
                  <a:pt x="0" y="0"/>
                </a:moveTo>
                <a:lnTo>
                  <a:pt x="5701502" y="0"/>
                </a:lnTo>
                <a:lnTo>
                  <a:pt x="5701502" y="6139167"/>
                </a:lnTo>
                <a:lnTo>
                  <a:pt x="0" y="6139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0446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895350"/>
            <a:ext cx="9933706" cy="96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7"/>
              </a:lnSpc>
            </a:pPr>
            <a:r>
              <a:rPr lang="en-US" sz="547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Automatização do processo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1513" y="2805458"/>
            <a:ext cx="10378728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Clientes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672423"/>
            <a:ext cx="17773650" cy="1543050"/>
            <a:chOff x="0" y="0"/>
            <a:chExt cx="4681126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1126" cy="406400"/>
            </a:xfrm>
            <a:custGeom>
              <a:avLst/>
              <a:gdLst/>
              <a:ahLst/>
              <a:cxnLst/>
              <a:rect l="l" t="t" r="r" b="b"/>
              <a:pathLst>
                <a:path w="4681126" h="406400">
                  <a:moveTo>
                    <a:pt x="0" y="0"/>
                  </a:moveTo>
                  <a:lnTo>
                    <a:pt x="4681126" y="0"/>
                  </a:lnTo>
                  <a:lnTo>
                    <a:pt x="468112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68112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7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186598" y="3876075"/>
            <a:ext cx="11301259" cy="5382225"/>
          </a:xfrm>
          <a:custGeom>
            <a:avLst/>
            <a:gdLst/>
            <a:ahLst/>
            <a:cxnLst/>
            <a:rect l="l" t="t" r="r" b="b"/>
            <a:pathLst>
              <a:path w="11301259" h="5382225">
                <a:moveTo>
                  <a:pt x="0" y="0"/>
                </a:moveTo>
                <a:lnTo>
                  <a:pt x="11301259" y="0"/>
                </a:lnTo>
                <a:lnTo>
                  <a:pt x="11301259" y="5382225"/>
                </a:lnTo>
                <a:lnTo>
                  <a:pt x="0" y="5382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895350"/>
            <a:ext cx="9933706" cy="96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7"/>
              </a:lnSpc>
            </a:pPr>
            <a:r>
              <a:rPr lang="en-US" sz="547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Automatização do processo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1513" y="2805458"/>
            <a:ext cx="10378728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Locação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672423"/>
            <a:ext cx="17773650" cy="1543050"/>
            <a:chOff x="0" y="0"/>
            <a:chExt cx="4681126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1126" cy="406400"/>
            </a:xfrm>
            <a:custGeom>
              <a:avLst/>
              <a:gdLst/>
              <a:ahLst/>
              <a:cxnLst/>
              <a:rect l="l" t="t" r="r" b="b"/>
              <a:pathLst>
                <a:path w="4681126" h="406400">
                  <a:moveTo>
                    <a:pt x="0" y="0"/>
                  </a:moveTo>
                  <a:lnTo>
                    <a:pt x="4681126" y="0"/>
                  </a:lnTo>
                  <a:lnTo>
                    <a:pt x="468112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68112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7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26934" y="2965843"/>
            <a:ext cx="5081151" cy="5623309"/>
          </a:xfrm>
          <a:custGeom>
            <a:avLst/>
            <a:gdLst/>
            <a:ahLst/>
            <a:cxnLst/>
            <a:rect l="l" t="t" r="r" b="b"/>
            <a:pathLst>
              <a:path w="5081151" h="5623309">
                <a:moveTo>
                  <a:pt x="0" y="0"/>
                </a:moveTo>
                <a:lnTo>
                  <a:pt x="5081151" y="0"/>
                </a:lnTo>
                <a:lnTo>
                  <a:pt x="5081151" y="5623308"/>
                </a:lnTo>
                <a:lnTo>
                  <a:pt x="0" y="5623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031866" y="2887328"/>
            <a:ext cx="9014171" cy="5780337"/>
          </a:xfrm>
          <a:custGeom>
            <a:avLst/>
            <a:gdLst/>
            <a:ahLst/>
            <a:cxnLst/>
            <a:rect l="l" t="t" r="r" b="b"/>
            <a:pathLst>
              <a:path w="9014171" h="5780337">
                <a:moveTo>
                  <a:pt x="0" y="0"/>
                </a:moveTo>
                <a:lnTo>
                  <a:pt x="9014171" y="0"/>
                </a:lnTo>
                <a:lnTo>
                  <a:pt x="9014171" y="5780337"/>
                </a:lnTo>
                <a:lnTo>
                  <a:pt x="0" y="5780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895350"/>
            <a:ext cx="9933706" cy="96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7"/>
              </a:lnSpc>
            </a:pPr>
            <a:r>
              <a:rPr lang="en-US" sz="547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Indicadores de desempenho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9181" y="8826444"/>
            <a:ext cx="4696372" cy="259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Disponibilidade de Veículos por Tentativa de Locação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72475" y="8826444"/>
            <a:ext cx="4696372" cy="259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002555"/>
                </a:solidFill>
                <a:latin typeface="Arimo Bold"/>
                <a:ea typeface="Arimo Bold"/>
                <a:cs typeface="Arimo Bold"/>
                <a:sym typeface="Arimo Bold"/>
              </a:rPr>
              <a:t>Total de veículos cadastrado por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72905" y="2130856"/>
            <a:ext cx="12142190" cy="1547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07"/>
              </a:lnSpc>
              <a:spcBef>
                <a:spcPct val="0"/>
              </a:spcBef>
            </a:pPr>
            <a:r>
              <a:rPr lang="en-US" sz="8791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Obrigada pela atenção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-1954444" y="4612927"/>
            <a:ext cx="22196888" cy="3333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46"/>
              </a:lnSpc>
            </a:pPr>
            <a:r>
              <a:rPr lang="en-US" sz="1249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Vamos para a </a:t>
            </a:r>
          </a:p>
          <a:p>
            <a:pPr algn="ctr">
              <a:lnSpc>
                <a:spcPts val="12746"/>
              </a:lnSpc>
            </a:pPr>
            <a:r>
              <a:rPr lang="en-US" sz="1249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demonstração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</dc:title>
  <cp:revision>14</cp:revision>
  <dcterms:created xsi:type="dcterms:W3CDTF">2006-08-16T00:00:00Z</dcterms:created>
  <dcterms:modified xsi:type="dcterms:W3CDTF">2024-12-09T01:33:42Z</dcterms:modified>
  <dc:identifier>DAGXJaLMnJ0</dc:identifier>
</cp:coreProperties>
</file>